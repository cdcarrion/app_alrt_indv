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B1E3D"/>
              </a:gs>
              <a:gs pos="100000">
                <a:srgbClr val="16335E"/>
              </a:gs>
            </a:gsLst>
            <a:lin ang="27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1912739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F2B70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ACTIVIDADES CDCC · BANCO PICHINCHA</a:t>
            </a:r>
            <a:endParaRPr lang="en-US" sz="12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2329259"/>
            <a:ext cx="762000" cy="50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2583259"/>
            <a:ext cx="9810750" cy="1412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5200" b="1" spc="-100" kern="0" dirty="0">
                <a:solidFill>
                  <a:srgbClr val="FBFB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Inteligencia artificial en nuestros procesos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812800" y="4173141"/>
            <a:ext cx="8175625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9D3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Copilot 365 Premium y cuatro oportunidades concretas de automatización para el equipo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12800" y="6238280"/>
            <a:ext cx="24450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0B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Cristian Carrión · Septiembre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6B7A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VENTAJA 1 · LICENCIAMIENTO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229320"/>
            <a:ext cx="10137775" cy="901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0B1E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Copilot 365 Premium: los modelos más potentes, sin costo extra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2308820"/>
            <a:ext cx="981075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653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 la licencia Premium el equipo elige, dentro de Word, Excel, PowerPoint y Copilot Chat, entre los modelos de IA más avanzados de OpenAI y Anthropic.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5975" y="2977356"/>
            <a:ext cx="5175250" cy="1728391"/>
          </a:xfrm>
          <a:prstGeom prst="roundRect">
            <a:avLst>
              <a:gd name="adj" fmla="val 7164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47750" y="3209131"/>
            <a:ext cx="406400" cy="406400"/>
          </a:xfrm>
          <a:prstGeom prst="roundRect">
            <a:avLst>
              <a:gd name="adj" fmla="val 25000"/>
            </a:avLst>
          </a:prstGeom>
          <a:solidFill>
            <a:srgbClr val="0B1E3D"/>
          </a:solidFill>
          <a:ln/>
        </p:spPr>
      </p:sp>
      <p:pic>
        <p:nvPicPr>
          <p:cNvPr id="7" name="Image 0" descr="Lightn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49350" y="3310731"/>
            <a:ext cx="203200" cy="203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47750" y="3717131"/>
            <a:ext cx="485305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B1E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GPT-5.6 (OpenAI)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47750" y="4047331"/>
            <a:ext cx="4853051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653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modelo por defecto de Copilot: tareas generales, redacción y los flujos que el equipo ya conoce.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00775" y="2977356"/>
            <a:ext cx="5175250" cy="1728391"/>
          </a:xfrm>
          <a:prstGeom prst="roundRect">
            <a:avLst>
              <a:gd name="adj" fmla="val 7164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32550" y="3209131"/>
            <a:ext cx="406400" cy="406400"/>
          </a:xfrm>
          <a:prstGeom prst="roundRect">
            <a:avLst>
              <a:gd name="adj" fmla="val 25000"/>
            </a:avLst>
          </a:prstGeom>
          <a:solidFill>
            <a:srgbClr val="0B1E3D"/>
          </a:solidFill>
          <a:ln/>
        </p:spPr>
      </p:sp>
      <p:pic>
        <p:nvPicPr>
          <p:cNvPr id="12" name="Image 1" descr="Sta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34150" y="3310731"/>
            <a:ext cx="203200" cy="203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32550" y="3717131"/>
            <a:ext cx="485305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B1E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Claude Opus 5 (Anthropic)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432550" y="4047331"/>
            <a:ext cx="4853051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653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Razonamiento complejo, comparación de opciones y planificación multi-paso, sin costo por tokens en Copilot Chat.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812800" y="4912122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1E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Incluido, hoy, en: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2800" y="5227042"/>
            <a:ext cx="727273" cy="365720"/>
          </a:xfrm>
          <a:prstGeom prst="roundRect">
            <a:avLst>
              <a:gd name="adj" fmla="val 50000"/>
            </a:avLst>
          </a:prstGeom>
          <a:solidFill>
            <a:srgbClr val="F2F4F7"/>
          </a:solidFill>
          <a:ln/>
        </p:spPr>
      </p:sp>
      <p:sp>
        <p:nvSpPr>
          <p:cNvPr id="17" name="Text 13"/>
          <p:cNvSpPr/>
          <p:nvPr/>
        </p:nvSpPr>
        <p:spPr>
          <a:xfrm>
            <a:off x="990600" y="5303242"/>
            <a:ext cx="4224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653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Word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1641673" y="5227042"/>
            <a:ext cx="729456" cy="365720"/>
          </a:xfrm>
          <a:prstGeom prst="roundRect">
            <a:avLst>
              <a:gd name="adj" fmla="val 50000"/>
            </a:avLst>
          </a:prstGeom>
          <a:solidFill>
            <a:srgbClr val="F2F4F7"/>
          </a:solidFill>
          <a:ln/>
        </p:spPr>
      </p:sp>
      <p:sp>
        <p:nvSpPr>
          <p:cNvPr id="19" name="Text 15"/>
          <p:cNvSpPr/>
          <p:nvPr/>
        </p:nvSpPr>
        <p:spPr>
          <a:xfrm>
            <a:off x="1819473" y="5303242"/>
            <a:ext cx="4246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653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Excel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2472730" y="5227042"/>
            <a:ext cx="1158875" cy="365720"/>
          </a:xfrm>
          <a:prstGeom prst="roundRect">
            <a:avLst>
              <a:gd name="adj" fmla="val 50000"/>
            </a:avLst>
          </a:prstGeom>
          <a:solidFill>
            <a:srgbClr val="F2F4F7"/>
          </a:solidFill>
          <a:ln/>
        </p:spPr>
      </p:sp>
      <p:sp>
        <p:nvSpPr>
          <p:cNvPr id="21" name="Text 17"/>
          <p:cNvSpPr/>
          <p:nvPr/>
        </p:nvSpPr>
        <p:spPr>
          <a:xfrm>
            <a:off x="2650530" y="5303242"/>
            <a:ext cx="8540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653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PowerPoint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3733205" y="5227042"/>
            <a:ext cx="1212751" cy="365720"/>
          </a:xfrm>
          <a:prstGeom prst="roundRect">
            <a:avLst>
              <a:gd name="adj" fmla="val 50000"/>
            </a:avLst>
          </a:prstGeom>
          <a:solidFill>
            <a:srgbClr val="F2F4F7"/>
          </a:solidFill>
          <a:ln/>
        </p:spPr>
      </p:sp>
      <p:sp>
        <p:nvSpPr>
          <p:cNvPr id="23" name="Text 19"/>
          <p:cNvSpPr/>
          <p:nvPr/>
        </p:nvSpPr>
        <p:spPr>
          <a:xfrm>
            <a:off x="3911005" y="5303242"/>
            <a:ext cx="9079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653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Copilot Chat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5047555" y="5227042"/>
            <a:ext cx="1418233" cy="365720"/>
          </a:xfrm>
          <a:prstGeom prst="roundRect">
            <a:avLst>
              <a:gd name="adj" fmla="val 50000"/>
            </a:avLst>
          </a:prstGeom>
          <a:solidFill>
            <a:srgbClr val="F2F4F7"/>
          </a:solidFill>
          <a:ln/>
        </p:spPr>
      </p:sp>
      <p:sp>
        <p:nvSpPr>
          <p:cNvPr id="25" name="Text 21"/>
          <p:cNvSpPr/>
          <p:nvPr/>
        </p:nvSpPr>
        <p:spPr>
          <a:xfrm>
            <a:off x="5225355" y="5303242"/>
            <a:ext cx="11134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653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Copilot Cowork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812800" y="6238280"/>
            <a:ext cx="368986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8A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Fuente: Microsoft 365 Copilot — Model Choice, 2026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11065966" y="6238280"/>
            <a:ext cx="3640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8A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/ 6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6B7A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VENTAJA 2 · YA LO CONSTRUIMOS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53120"/>
            <a:ext cx="10464800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1" dirty="0">
                <a:solidFill>
                  <a:srgbClr val="0B1E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Alertas tempranas por cliente: de minutos a segundos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2800" y="1659830"/>
            <a:ext cx="104648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4653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Objetivo:</a:t>
            </a:r>
            <a:r>
              <a:rPr lang="en-US" sz="1250" dirty="0">
                <a:solidFill>
                  <a:srgbClr val="4653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ver en un solo lugar el perfil de riesgo de un cliente — Empresas, PES, Consumo — y su historial de cartera y mora, sin abrir varios reportes.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15975" y="2234505"/>
            <a:ext cx="5200650" cy="1885752"/>
          </a:xfrm>
          <a:prstGeom prst="roundRect">
            <a:avLst>
              <a:gd name="adj" fmla="val 6566"/>
            </a:avLst>
          </a:prstGeom>
          <a:solidFill>
            <a:srgbClr val="FFFFFF"/>
          </a:solidFill>
          <a:ln w="6350">
            <a:solidFill>
              <a:srgbClr val="F2B70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2350" y="2440880"/>
            <a:ext cx="4931537" cy="77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880"/>
              </a:lnSpc>
              <a:buNone/>
            </a:pPr>
            <a:r>
              <a:rPr lang="en-US" sz="5600" b="1" dirty="0">
                <a:solidFill>
                  <a:srgbClr val="0B1E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~85%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1022350" y="3238401"/>
            <a:ext cx="4931537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653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Menos tiempo estimado por consulta, frente a revisar cada base por separado.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2350" y="3700562"/>
            <a:ext cx="49315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8B98A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Estimación ilustrativa, no una medición formal.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5375" y="2234505"/>
            <a:ext cx="5200650" cy="1885752"/>
          </a:xfrm>
          <a:prstGeom prst="roundRect">
            <a:avLst>
              <a:gd name="adj" fmla="val 6566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81750" y="2440880"/>
            <a:ext cx="4931537" cy="77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880"/>
              </a:lnSpc>
              <a:buNone/>
            </a:pPr>
            <a:r>
              <a:rPr lang="en-US" sz="5600" b="1" dirty="0">
                <a:solidFill>
                  <a:srgbClr val="0B1E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→ 1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6381750" y="3238401"/>
            <a:ext cx="4931537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653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Bases distintas (Empresas, PES, Consumo) consolidadas en una sola búsqueda, más la serie histórica.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81750" y="3700562"/>
            <a:ext cx="49315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8B98A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solo lugar, no tres reportes.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5975" y="4253607"/>
            <a:ext cx="10560050" cy="1103511"/>
          </a:xfrm>
          <a:prstGeom prst="roundRect">
            <a:avLst>
              <a:gd name="adj" fmla="val 11221"/>
            </a:avLst>
          </a:prstGeom>
          <a:solidFill>
            <a:srgbClr val="FEF8E7"/>
          </a:solidFill>
          <a:ln w="6350">
            <a:solidFill>
              <a:srgbClr val="F2B70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2350" y="4576763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1E3D"/>
          </a:solidFill>
          <a:ln/>
        </p:spPr>
      </p:sp>
      <p:pic>
        <p:nvPicPr>
          <p:cNvPr id="15" name="Image 0" descr="Lightn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43000" y="4697413"/>
            <a:ext cx="215900" cy="2159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657350" y="4459982"/>
            <a:ext cx="979766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B1E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Ventaja frente a Power BI: prototipar rápido con IA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657350" y="4724102"/>
            <a:ext cx="9797669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653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Esta app se armó y corrió en una sola sesión de trabajo, en Python con ayuda de IA. Construir esta misma búsqueda cruzada entre 3 bases, con su validación, directamente en Power BI habría tomado bastante más tiempo de desarrollo.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12800" y="6238280"/>
            <a:ext cx="168413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8A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CDCC · Banco Pichincha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1065966" y="6238280"/>
            <a:ext cx="3640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8A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/ 6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b="1" spc="150" kern="0" dirty="0">
                <a:solidFill>
                  <a:srgbClr val="6B7A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VENTAJA 3 · AGENT MODE EN EXCEL</a:t>
            </a:r>
            <a:endParaRPr lang="en-US" sz="1196" dirty="0"/>
          </a:p>
        </p:txBody>
      </p:sp>
      <p:sp>
        <p:nvSpPr>
          <p:cNvPr id="3" name="Text 1"/>
          <p:cNvSpPr/>
          <p:nvPr/>
        </p:nvSpPr>
        <p:spPr>
          <a:xfrm>
            <a:off x="812800" y="1146175"/>
            <a:ext cx="10464800" cy="760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34"/>
              </a:lnSpc>
              <a:buNone/>
            </a:pPr>
            <a:r>
              <a:rPr lang="en-US" sz="2551" b="1" dirty="0">
                <a:solidFill>
                  <a:srgbClr val="0B1E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Menos tiempo actualizando tableros, más tiempo interpretando</a:t>
            </a:r>
            <a:endParaRPr lang="en-US" sz="2551" dirty="0"/>
          </a:p>
        </p:txBody>
      </p:sp>
      <p:sp>
        <p:nvSpPr>
          <p:cNvPr id="4" name="Text 2"/>
          <p:cNvSpPr/>
          <p:nvPr/>
        </p:nvSpPr>
        <p:spPr>
          <a:xfrm>
            <a:off x="812800" y="2008088"/>
            <a:ext cx="10464800" cy="240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23"/>
              </a:lnSpc>
              <a:buNone/>
            </a:pPr>
            <a:r>
              <a:rPr lang="en-US" sz="1230" dirty="0">
                <a:solidFill>
                  <a:srgbClr val="4653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Así se vería: Agent Mode toma el nuevo corte y refresca las pestañas del tablero — el equipo solo valida.</a:t>
            </a:r>
            <a:endParaRPr lang="en-US" sz="1230" dirty="0"/>
          </a:p>
        </p:txBody>
      </p:sp>
      <p:sp>
        <p:nvSpPr>
          <p:cNvPr id="5" name="Shape 3"/>
          <p:cNvSpPr/>
          <p:nvPr/>
        </p:nvSpPr>
        <p:spPr>
          <a:xfrm>
            <a:off x="815975" y="2353370"/>
            <a:ext cx="10560050" cy="2699742"/>
          </a:xfrm>
          <a:prstGeom prst="roundRect">
            <a:avLst>
              <a:gd name="adj" fmla="val 5527"/>
            </a:avLst>
          </a:prstGeom>
          <a:solidFill>
            <a:srgbClr val="F2F4F7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5525" y="2556470"/>
            <a:ext cx="884238" cy="372070"/>
          </a:xfrm>
          <a:prstGeom prst="roundRect">
            <a:avLst>
              <a:gd name="adj" fmla="val 16213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06500" y="2635845"/>
            <a:ext cx="5730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B7A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Preciso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92313" y="2556470"/>
            <a:ext cx="751582" cy="372070"/>
          </a:xfrm>
          <a:prstGeom prst="roundRect">
            <a:avLst>
              <a:gd name="adj" fmla="val 16213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73288" y="2635845"/>
            <a:ext cx="44043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B7A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Micro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23270" y="2559645"/>
            <a:ext cx="637877" cy="365720"/>
          </a:xfrm>
          <a:prstGeom prst="roundRect">
            <a:avLst>
              <a:gd name="adj" fmla="val 17363"/>
            </a:avLst>
          </a:prstGeom>
          <a:solidFill>
            <a:srgbClr val="0B1E3D"/>
          </a:solidFill>
          <a:ln/>
        </p:spPr>
      </p:sp>
      <p:sp>
        <p:nvSpPr>
          <p:cNvPr id="11" name="Text 9"/>
          <p:cNvSpPr/>
          <p:nvPr/>
        </p:nvSpPr>
        <p:spPr>
          <a:xfrm>
            <a:off x="3001070" y="2635845"/>
            <a:ext cx="33307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BFB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25525" y="3212902"/>
            <a:ext cx="4438650" cy="1473101"/>
          </a:xfrm>
          <a:prstGeom prst="roundRect">
            <a:avLst>
              <a:gd name="adj" fmla="val 6681"/>
            </a:avLst>
          </a:prstGeom>
          <a:solidFill>
            <a:srgbClr val="FFFFFF">
              <a:alpha val="60000"/>
            </a:srgbClr>
          </a:solidFill>
          <a:ln w="6350">
            <a:solidFill>
              <a:srgbClr val="E3E6E4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1900" y="3419277"/>
            <a:ext cx="414667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8B98AC">
                    <a:alpha val="6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ANTES · CORTE JUL-2026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31900" y="3696097"/>
            <a:ext cx="414667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A99">
                    <a:alpha val="6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Ratio 30 · perfil Rechazado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31900" y="3972917"/>
            <a:ext cx="4146677" cy="532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3800" b="1" dirty="0">
                <a:solidFill>
                  <a:srgbClr val="8B98AC">
                    <a:alpha val="6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26,3%</a:t>
            </a:r>
            <a:endParaRPr lang="en-US" sz="3800" dirty="0"/>
          </a:p>
        </p:txBody>
      </p:sp>
      <p:pic>
        <p:nvPicPr>
          <p:cNvPr id="16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18200" y="3506291"/>
            <a:ext cx="355600" cy="13970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5892800" y="3709491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0B1E3D"/>
          </a:solidFill>
          <a:ln/>
        </p:spPr>
      </p:sp>
      <p:pic>
        <p:nvPicPr>
          <p:cNvPr id="18" name="Image 1" descr="Lightni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00750" y="3817441"/>
            <a:ext cx="190500" cy="1905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651103" y="4179391"/>
            <a:ext cx="8897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1E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 Mode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727825" y="3023791"/>
            <a:ext cx="4438650" cy="1851521"/>
          </a:xfrm>
          <a:prstGeom prst="roundRect">
            <a:avLst>
              <a:gd name="adj" fmla="val 5316"/>
            </a:avLst>
          </a:prstGeom>
          <a:solidFill>
            <a:srgbClr val="FFFFFF"/>
          </a:solidFill>
          <a:ln w="6350">
            <a:solidFill>
              <a:srgbClr val="F2B705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6934200" y="3230166"/>
            <a:ext cx="414667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8A61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DESPUÉS · CORTE AGO-2026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934200" y="3506986"/>
            <a:ext cx="414667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653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Ratio 30 · perfil Rechazado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934200" y="3783806"/>
            <a:ext cx="4146677" cy="532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3800" b="1" dirty="0">
                <a:solidFill>
                  <a:srgbClr val="0B1E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27,3%</a:t>
            </a:r>
            <a:endParaRPr lang="en-US" sz="3800" dirty="0"/>
          </a:p>
        </p:txBody>
      </p:sp>
      <p:sp>
        <p:nvSpPr>
          <p:cNvPr id="24" name="Shape 20"/>
          <p:cNvSpPr/>
          <p:nvPr/>
        </p:nvSpPr>
        <p:spPr>
          <a:xfrm>
            <a:off x="6934200" y="4354016"/>
            <a:ext cx="2116336" cy="314920"/>
          </a:xfrm>
          <a:prstGeom prst="roundRect">
            <a:avLst>
              <a:gd name="adj" fmla="val 50000"/>
            </a:avLst>
          </a:prstGeom>
          <a:solidFill>
            <a:srgbClr val="DCF5E3"/>
          </a:solidFill>
          <a:ln/>
        </p:spPr>
      </p:sp>
      <p:sp>
        <p:nvSpPr>
          <p:cNvPr id="25" name="Text 21"/>
          <p:cNvSpPr/>
          <p:nvPr/>
        </p:nvSpPr>
        <p:spPr>
          <a:xfrm>
            <a:off x="7073900" y="4404816"/>
            <a:ext cx="18920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7A4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Generado por Agent Mode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812800" y="5183287"/>
            <a:ext cx="10883392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2"/>
              </a:lnSpc>
              <a:buNone/>
            </a:pPr>
            <a:r>
              <a:rPr lang="en-US" sz="1159" b="1" dirty="0">
                <a:solidFill>
                  <a:srgbClr val="0B1E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Aplicable hoy en:</a:t>
            </a:r>
            <a:endParaRPr lang="en-US" sz="1159" dirty="0"/>
          </a:p>
        </p:txBody>
      </p:sp>
      <p:sp>
        <p:nvSpPr>
          <p:cNvPr id="27" name="Shape 23"/>
          <p:cNvSpPr/>
          <p:nvPr/>
        </p:nvSpPr>
        <p:spPr>
          <a:xfrm>
            <a:off x="812800" y="5465068"/>
            <a:ext cx="4053086" cy="391120"/>
          </a:xfrm>
          <a:prstGeom prst="roundRect">
            <a:avLst>
              <a:gd name="adj" fmla="val 19483"/>
            </a:avLst>
          </a:prstGeom>
          <a:solidFill>
            <a:srgbClr val="F2F4F7"/>
          </a:solidFill>
          <a:ln/>
        </p:spPr>
      </p:sp>
      <p:sp>
        <p:nvSpPr>
          <p:cNvPr id="28" name="Text 24"/>
          <p:cNvSpPr/>
          <p:nvPr/>
        </p:nvSpPr>
        <p:spPr>
          <a:xfrm>
            <a:off x="990600" y="5553968"/>
            <a:ext cx="380841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B1E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Monitoreo del Perfil de Riesgo — Preciso · Micro · PES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4967486" y="5465068"/>
            <a:ext cx="3578423" cy="391120"/>
          </a:xfrm>
          <a:prstGeom prst="roundRect">
            <a:avLst>
              <a:gd name="adj" fmla="val 19483"/>
            </a:avLst>
          </a:prstGeom>
          <a:solidFill>
            <a:srgbClr val="F2F4F7"/>
          </a:solidFill>
          <a:ln/>
        </p:spPr>
      </p:sp>
      <p:sp>
        <p:nvSpPr>
          <p:cNvPr id="30" name="Text 26"/>
          <p:cNvSpPr/>
          <p:nvPr/>
        </p:nvSpPr>
        <p:spPr>
          <a:xfrm>
            <a:off x="5145286" y="5553968"/>
            <a:ext cx="33195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B1E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Comparación entre corridas — Cartera vencida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812800" y="6238280"/>
            <a:ext cx="168413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8A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CDCC · Banco Pichincha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11065966" y="6238280"/>
            <a:ext cx="3640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8A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/ 6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6B7A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VENTAJA 4 · YA LO CONSTRUIMOS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40420"/>
            <a:ext cx="10464800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1" dirty="0">
                <a:solidFill>
                  <a:srgbClr val="0B1E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Perfil individual: así se ve en la app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2800" y="1634430"/>
            <a:ext cx="1046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653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Ingresas las variables del cliente y la app marca de una vez cuáles están en alerta.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15975" y="1974155"/>
            <a:ext cx="10560050" cy="2825552"/>
          </a:xfrm>
          <a:prstGeom prst="roundRect">
            <a:avLst>
              <a:gd name="adj" fmla="val 5281"/>
            </a:avLst>
          </a:prstGeom>
          <a:solidFill>
            <a:srgbClr val="F2F4F7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6950" y="2155130"/>
            <a:ext cx="1892498" cy="378420"/>
          </a:xfrm>
          <a:prstGeom prst="roundRect">
            <a:avLst>
              <a:gd name="adj" fmla="val 16780"/>
            </a:avLst>
          </a:prstGeom>
          <a:solidFill>
            <a:srgbClr val="0B1E3D"/>
          </a:solidFill>
          <a:ln/>
        </p:spPr>
      </p:sp>
      <p:sp>
        <p:nvSpPr>
          <p:cNvPr id="7" name="Text 5"/>
          <p:cNvSpPr/>
          <p:nvPr/>
        </p:nvSpPr>
        <p:spPr>
          <a:xfrm>
            <a:off x="1174750" y="2231330"/>
            <a:ext cx="1587698" cy="251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BFB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🧾 Análisis individual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68823" y="2158305"/>
            <a:ext cx="1198959" cy="372070"/>
          </a:xfrm>
          <a:prstGeom prst="roundRect">
            <a:avLst>
              <a:gd name="adj" fmla="val 16213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49798" y="2237680"/>
            <a:ext cx="88780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B7A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📋 Bitácora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00125" y="2638326"/>
            <a:ext cx="4787900" cy="1977231"/>
          </a:xfrm>
          <a:prstGeom prst="roundRect">
            <a:avLst>
              <a:gd name="adj" fmla="val 4978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1100" y="2844701"/>
            <a:ext cx="86548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0B1E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INGRESAS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21573" y="2819301"/>
            <a:ext cx="485477" cy="264120"/>
          </a:xfrm>
          <a:prstGeom prst="roundRect">
            <a:avLst>
              <a:gd name="adj" fmla="val 50000"/>
            </a:avLst>
          </a:prstGeom>
          <a:solidFill>
            <a:srgbClr val="0B1E3D"/>
          </a:solidFill>
          <a:ln/>
        </p:spPr>
      </p:sp>
      <p:sp>
        <p:nvSpPr>
          <p:cNvPr id="13" name="Text 11"/>
          <p:cNvSpPr/>
          <p:nvPr/>
        </p:nvSpPr>
        <p:spPr>
          <a:xfrm>
            <a:off x="5223173" y="2844701"/>
            <a:ext cx="33307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BFB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184275" y="3175496"/>
            <a:ext cx="4419600" cy="372070"/>
          </a:xfrm>
          <a:prstGeom prst="roundRect">
            <a:avLst>
              <a:gd name="adj" fmla="val 16213"/>
            </a:avLst>
          </a:prstGeom>
          <a:solidFill>
            <a:srgbClr val="FAFAF8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01750" y="3254871"/>
            <a:ext cx="43934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A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Score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60" y="3254871"/>
            <a:ext cx="3251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1E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620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184275" y="3617416"/>
            <a:ext cx="4419600" cy="372070"/>
          </a:xfrm>
          <a:prstGeom prst="roundRect">
            <a:avLst>
              <a:gd name="adj" fmla="val 16213"/>
            </a:avLst>
          </a:prstGeom>
          <a:solidFill>
            <a:srgbClr val="FAFAF8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01750" y="3696791"/>
            <a:ext cx="7378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A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Días mora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441" y="3696791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1E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184275" y="4059337"/>
            <a:ext cx="4419600" cy="372070"/>
          </a:xfrm>
          <a:prstGeom prst="roundRect">
            <a:avLst>
              <a:gd name="adj" fmla="val 16213"/>
            </a:avLst>
          </a:prstGeom>
          <a:solidFill>
            <a:srgbClr val="FAFAF8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01750" y="4138712"/>
            <a:ext cx="9131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A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Saldo pasivo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12060" y="4138712"/>
            <a:ext cx="3251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1E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$30</a:t>
            </a:r>
            <a:endParaRPr lang="en-US" sz="1200" dirty="0"/>
          </a:p>
        </p:txBody>
      </p:sp>
      <p:pic>
        <p:nvPicPr>
          <p:cNvPr id="23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18200" y="3557091"/>
            <a:ext cx="355600" cy="13970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6403975" y="2751336"/>
            <a:ext cx="4787900" cy="1751112"/>
          </a:xfrm>
          <a:prstGeom prst="roundRect">
            <a:avLst>
              <a:gd name="adj" fmla="val 5621"/>
            </a:avLst>
          </a:prstGeom>
          <a:solidFill>
            <a:srgbClr val="FFFFFF"/>
          </a:solidFill>
          <a:ln w="6350">
            <a:solidFill>
              <a:srgbClr val="E3E6E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84950" y="2932311"/>
            <a:ext cx="455872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0B1E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OBTIENES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584950" y="3234531"/>
            <a:ext cx="4558729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B1E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de 3 en alerta</a:t>
            </a:r>
            <a:endParaRPr lang="en-US" sz="1300" dirty="0"/>
          </a:p>
        </p:txBody>
      </p:sp>
      <p:pic>
        <p:nvPicPr>
          <p:cNvPr id="27" name="Image 1" descr="CheckCircl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84950" y="3578622"/>
            <a:ext cx="165100" cy="16510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6826250" y="3554512"/>
            <a:ext cx="7941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653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Score: 620</a:t>
            </a:r>
            <a:endParaRPr lang="en-US" sz="1200" dirty="0"/>
          </a:p>
        </p:txBody>
      </p:sp>
      <p:pic>
        <p:nvPicPr>
          <p:cNvPr id="29" name="Image 2" descr="Warni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584950" y="3855442"/>
            <a:ext cx="165100" cy="16510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826250" y="3831332"/>
            <a:ext cx="10012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653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Días mora: 45</a:t>
            </a:r>
            <a:endParaRPr lang="en-US" sz="1200" dirty="0"/>
          </a:p>
        </p:txBody>
      </p:sp>
      <p:pic>
        <p:nvPicPr>
          <p:cNvPr id="31" name="Image 3" descr="Warni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584950" y="4132263"/>
            <a:ext cx="165100" cy="16510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826250" y="4108152"/>
            <a:ext cx="126761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653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Saldo pasivo: $30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812800" y="4917182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8B98A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Ejemplo con datos de prueba — armado en Python con IA; hacerlo en Power BI habría tomado más tiempo.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815975" y="5247977"/>
            <a:ext cx="10560050" cy="466030"/>
          </a:xfrm>
          <a:prstGeom prst="roundRect">
            <a:avLst>
              <a:gd name="adj" fmla="val 21120"/>
            </a:avLst>
          </a:prstGeom>
          <a:solidFill>
            <a:srgbClr val="FEF8E7"/>
          </a:solidFill>
          <a:ln w="6350">
            <a:solidFill>
              <a:srgbClr val="F2B705"/>
            </a:solidFill>
            <a:prstDash val="solid"/>
          </a:ln>
        </p:spPr>
      </p:sp>
      <p:pic>
        <p:nvPicPr>
          <p:cNvPr id="35" name="Image 4" descr="Lightni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96950" y="5379343"/>
            <a:ext cx="203200" cy="20320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327150" y="5365452"/>
            <a:ext cx="6678259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B1E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~60% menos tiempo</a:t>
            </a:r>
            <a:r>
              <a:rPr lang="en-US" sz="1300" dirty="0">
                <a:solidFill>
                  <a:srgbClr val="0B1E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estimado en detectar señales de deterioro (estimación ilustrativa)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812800" y="6238280"/>
            <a:ext cx="168413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8A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CDCC · Banco Pichincha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11065966" y="6238280"/>
            <a:ext cx="3640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8A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 / 6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B1E3D"/>
              </a:gs>
              <a:gs pos="100000">
                <a:srgbClr val="16335E"/>
              </a:gs>
            </a:gsLst>
            <a:lin ang="27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168662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F2B70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PRÓXIMOS PASOS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220474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BFBF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¿Por dónde empezamos?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2800" y="301238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/>
        </p:spPr>
      </p:sp>
      <p:sp>
        <p:nvSpPr>
          <p:cNvPr id="6" name="Text 4"/>
          <p:cNvSpPr/>
          <p:nvPr/>
        </p:nvSpPr>
        <p:spPr>
          <a:xfrm>
            <a:off x="937220" y="3065760"/>
            <a:ext cx="15755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1E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0800" y="3065760"/>
            <a:ext cx="3958535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4E9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Activar Copilot Premium para el equipo de CDCC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2800" y="354578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/>
        </p:spPr>
      </p:sp>
      <p:sp>
        <p:nvSpPr>
          <p:cNvPr id="9" name="Text 7"/>
          <p:cNvSpPr/>
          <p:nvPr/>
        </p:nvSpPr>
        <p:spPr>
          <a:xfrm>
            <a:off x="937220" y="3599160"/>
            <a:ext cx="15755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1E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0800" y="3599160"/>
            <a:ext cx="397223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4E9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Definir el alcance del piloto de alertas unificadas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2800" y="407918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/>
        </p:spPr>
      </p:sp>
      <p:sp>
        <p:nvSpPr>
          <p:cNvPr id="12" name="Text 10"/>
          <p:cNvSpPr/>
          <p:nvPr/>
        </p:nvSpPr>
        <p:spPr>
          <a:xfrm>
            <a:off x="937220" y="4132560"/>
            <a:ext cx="15755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1E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0800" y="4132560"/>
            <a:ext cx="381147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4E9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Probar Agent Mode en un tablero mensual real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2800" y="461258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/>
        </p:spPr>
      </p:sp>
      <p:sp>
        <p:nvSpPr>
          <p:cNvPr id="15" name="Text 13"/>
          <p:cNvSpPr/>
          <p:nvPr/>
        </p:nvSpPr>
        <p:spPr>
          <a:xfrm>
            <a:off x="937220" y="4665960"/>
            <a:ext cx="15755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1E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0800" y="4665960"/>
            <a:ext cx="527746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4E9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Explorar un primer prototipo en Python para el análisis agregado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168413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0B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CDCC · Banco Pichincha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065966" y="6238280"/>
            <a:ext cx="3640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0B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 / 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 en Nuestros Procesos — CDCC</dc:title>
  <dc:subject>PptxGenJS Presentation</dc:subject>
  <dc:creator>PptxGenJS</dc:creator>
  <cp:lastModifiedBy>PptxGenJS</cp:lastModifiedBy>
  <cp:revision>1</cp:revision>
  <dcterms:created xsi:type="dcterms:W3CDTF">2026-09-27T22:35:27Z</dcterms:created>
  <dcterms:modified xsi:type="dcterms:W3CDTF">2026-09-27T22:35:27Z</dcterms:modified>
</cp:coreProperties>
</file>